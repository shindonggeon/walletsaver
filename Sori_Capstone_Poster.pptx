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7816" cy="302392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7816" cy="302392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7816" cy="4754880"/>
          </a:xfrm>
          <a:prstGeom prst="rect">
            <a:avLst/>
          </a:prstGeom>
          <a:solidFill>
            <a:srgbClr val="0F1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2038197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FFD166"/>
                </a:solidFill>
                <a:latin typeface="Malgun Gothic"/>
              </a:rPr>
              <a:t>소리  (Sori)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32004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06B6D4"/>
                </a:solidFill>
                <a:latin typeface="Malgun Gothic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188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8C42"/>
                </a:solidFill>
                <a:latin typeface="Malgun Gothic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2038197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9D1D9"/>
                </a:solidFill>
                <a:latin typeface="Malgun Gothic"/>
              </a:rPr>
              <a:t>결제 1초 전, 당신을 말리는 능동형 AI 잔소리 가계부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3246120"/>
            <a:ext cx="16724376" cy="2286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2038197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  <a:latin typeface="Malgun Gothic"/>
              </a:rPr>
              <a:t>2026. 05. 기초 캡스톤 디자인   |   지도교수: 윤익준   |   팀원: 김동원, 송종민, 안준용, 최정호, 신동건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43400"/>
            <a:ext cx="3017520" cy="530352"/>
          </a:xfrm>
          <a:prstGeom prst="roundRect">
            <a:avLst>
              <a:gd name="adj" fmla="val 45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343400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제안 서비스 배경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01768"/>
            <a:ext cx="20381976" cy="3749039"/>
          </a:xfrm>
          <a:prstGeom prst="rect">
            <a:avLst/>
          </a:prstGeom>
          <a:solidFill>
            <a:srgbClr val="161B22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5093207"/>
            <a:ext cx="82296" cy="3566159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4807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3946"/>
                </a:solidFill>
                <a:latin typeface="Malgun Gothic"/>
              </a:rPr>
              <a:t>🔴  문제 인식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9741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9D1D9"/>
                </a:solidFill>
                <a:latin typeface="Malgun Gothic"/>
              </a:rPr>
              <a:t>2030 청년층의 욜로(YOLO) 문화 확산 및 충동구매 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B949E"/>
                </a:solidFill>
                <a:latin typeface="Malgun Gothic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519672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166"/>
                </a:solidFill>
                <a:latin typeface="Malgun Gothic"/>
              </a:rPr>
              <a:t>🟡  기존의 한계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995160"/>
            <a:ext cx="19741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9D1D9"/>
                </a:solidFill>
                <a:latin typeface="Malgun Gothic"/>
              </a:rPr>
              <a:t>기존 가계부 앱들은 돈을 다 쓴 '후'에만 기록을 제공함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74797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B949E"/>
                </a:solidFill>
                <a:latin typeface="Malgun Gothic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7863840"/>
            <a:ext cx="197418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Malgun Gothic"/>
              </a:rPr>
              <a:t>🟢  결론  :  사후 기록만으로는 실질적인 과소비 통제 및 소비 습관 교정이 불가능함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9052560"/>
            <a:ext cx="3017520" cy="530352"/>
          </a:xfrm>
          <a:prstGeom prst="roundRect">
            <a:avLst>
              <a:gd name="adj" fmla="val 45000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9052560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목표 및 필요성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9710928"/>
            <a:ext cx="6672072" cy="4663440"/>
          </a:xfrm>
          <a:prstGeom prst="rect">
            <a:avLst/>
          </a:prstGeom>
          <a:solidFill>
            <a:srgbClr val="1A2233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9710928"/>
            <a:ext cx="6672072" cy="14630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9893808"/>
            <a:ext cx="6397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C42"/>
                </a:solidFill>
                <a:latin typeface="Malgun Gothic"/>
              </a:rPr>
              <a:t>진짜 필요한 가계부는?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10698480"/>
            <a:ext cx="5940552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10808208"/>
            <a:ext cx="6306312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단순 소비 기록으로는</a:t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행동 변화 유도 불가!</a:t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/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결제 직전의</a:t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물리적 개입이 필요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57872" y="9710928"/>
            <a:ext cx="6672072" cy="4663440"/>
          </a:xfrm>
          <a:prstGeom prst="rect">
            <a:avLst/>
          </a:prstGeom>
          <a:solidFill>
            <a:srgbClr val="1A2233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57872" y="9710928"/>
            <a:ext cx="6672072" cy="14630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5032" y="9893808"/>
            <a:ext cx="6397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166"/>
                </a:solidFill>
                <a:latin typeface="Malgun Gothic"/>
              </a:rPr>
              <a:t>우리가 원하는 건?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3632" y="10698480"/>
            <a:ext cx="5940552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0751" y="10808208"/>
            <a:ext cx="6306312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획일화된 알림이 아닌,</a:t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내 성향에 딱 맞는 조언</a:t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/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사후 반성이 아닌</a:t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'사전 차단'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212824" y="9710928"/>
            <a:ext cx="6672072" cy="4663440"/>
          </a:xfrm>
          <a:prstGeom prst="rect">
            <a:avLst/>
          </a:prstGeom>
          <a:solidFill>
            <a:srgbClr val="1A2233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212824" y="9710928"/>
            <a:ext cx="6672072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349984" y="9893808"/>
            <a:ext cx="6397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B6D4"/>
                </a:solidFill>
                <a:latin typeface="Malgun Gothic"/>
              </a:rPr>
              <a:t>그래서 Sori는...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578584" y="10698480"/>
            <a:ext cx="5940552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395704" y="10808208"/>
            <a:ext cx="6306312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내 성향(MBTI) 기반</a:t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4가지 페르소나 배정</a:t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/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GPS 기반 위험 지역</a:t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실시간 감지</a:t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/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뼈 때리는 AI 잔소리로</a:t>
            </a:r>
          </a:p>
          <a:p>
            <a:pPr algn="ctr"/>
            <a:r>
              <a:rPr sz="1800" b="0" i="0">
                <a:solidFill>
                  <a:srgbClr val="C9D1D9"/>
                </a:solidFill>
                <a:latin typeface="Malgun Gothic"/>
              </a:rPr>
              <a:t>충동구매 억제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14767559"/>
            <a:ext cx="3840480" cy="530352"/>
          </a:xfrm>
          <a:prstGeom prst="roundRect">
            <a:avLst>
              <a:gd name="adj" fmla="val 4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14767559"/>
            <a:ext cx="3840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시스템 설계 및 알고리즘 시나리오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15425927"/>
            <a:ext cx="20381976" cy="548640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15517367"/>
            <a:ext cx="82296" cy="5303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1520" y="15572231"/>
            <a:ext cx="4706874" cy="530352"/>
          </a:xfrm>
          <a:prstGeom prst="roundRect">
            <a:avLst>
              <a:gd name="adj" fmla="val 31034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15572231"/>
            <a:ext cx="470687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algun Gothic"/>
              </a:rPr>
              <a:t>입력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38394" y="15572231"/>
            <a:ext cx="27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949E"/>
                </a:solidFill>
                <a:latin typeface="Malgun Gothic"/>
              </a:rPr>
              <a:t>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12714" y="15572231"/>
            <a:ext cx="4706874" cy="530352"/>
          </a:xfrm>
          <a:prstGeom prst="roundRect">
            <a:avLst>
              <a:gd name="adj" fmla="val 31034"/>
            </a:avLst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2714" y="15572231"/>
            <a:ext cx="470687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algun Gothic"/>
              </a:rPr>
              <a:t>전처리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19588" y="15572231"/>
            <a:ext cx="27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949E"/>
                </a:solidFill>
                <a:latin typeface="Malgun Gothic"/>
              </a:rPr>
              <a:t>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93908" y="15572231"/>
            <a:ext cx="4706874" cy="530352"/>
          </a:xfrm>
          <a:prstGeom prst="roundRect">
            <a:avLst>
              <a:gd name="adj" fmla="val 31034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3908" y="15572231"/>
            <a:ext cx="470687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algun Gothic"/>
              </a:rPr>
              <a:t>분석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400781" y="15572231"/>
            <a:ext cx="274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949E"/>
                </a:solidFill>
                <a:latin typeface="Malgun Gothic"/>
              </a:rPr>
              <a:t>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675102" y="15572231"/>
            <a:ext cx="4706874" cy="530352"/>
          </a:xfrm>
          <a:prstGeom prst="roundRect">
            <a:avLst>
              <a:gd name="adj" fmla="val 31034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675102" y="15572231"/>
            <a:ext cx="470687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algun Gothic"/>
              </a:rPr>
              <a:t>출력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16276319"/>
            <a:ext cx="4706874" cy="4023360"/>
          </a:xfrm>
          <a:prstGeom prst="rect">
            <a:avLst/>
          </a:prstGeom>
          <a:solidFill>
            <a:srgbClr val="0F1721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16459199"/>
            <a:ext cx="470687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  <a:latin typeface="Malgun Gothic"/>
              </a:rPr>
              <a:t>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17419319"/>
            <a:ext cx="452399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8C42"/>
                </a:solidFill>
                <a:latin typeface="Malgun Gothic"/>
              </a:rPr>
              <a:t>위험 지역 진입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18105119"/>
            <a:ext cx="452399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D1D9"/>
                </a:solidFill>
                <a:latin typeface="Malgun Gothic"/>
              </a:rPr>
              <a:t>Background GPS 감지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38394" y="18013679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B949E"/>
                </a:solidFill>
                <a:latin typeface="Malgun Gothic"/>
              </a:rPr>
              <a:t>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12714" y="16276319"/>
            <a:ext cx="4706874" cy="4023360"/>
          </a:xfrm>
          <a:prstGeom prst="rect">
            <a:avLst/>
          </a:prstGeom>
          <a:solidFill>
            <a:srgbClr val="0F1721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12714" y="16459199"/>
            <a:ext cx="470687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  <a:latin typeface="Malgun Gothic"/>
              </a:rPr>
              <a:t>🖥️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04153" y="17419319"/>
            <a:ext cx="452399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D166"/>
                </a:solidFill>
                <a:latin typeface="Malgun Gothic"/>
              </a:rPr>
              <a:t>서버 중계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4153" y="18105119"/>
            <a:ext cx="452399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D1D9"/>
                </a:solidFill>
                <a:latin typeface="Malgun Gothic"/>
              </a:rPr>
              <a:t>FastAPI 백엔드</a:t>
            </a:r>
          </a:p>
          <a:p>
            <a:pPr algn="ctr"/>
            <a:r>
              <a:rPr sz="1600" b="0" i="0">
                <a:solidFill>
                  <a:srgbClr val="C9D1D9"/>
                </a:solidFill>
                <a:latin typeface="Malgun Gothic"/>
              </a:rPr>
              <a:t>서버 호출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19588" y="18013679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B949E"/>
                </a:solidFill>
                <a:latin typeface="Malgun Gothic"/>
              </a:rPr>
              <a:t>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93908" y="16276319"/>
            <a:ext cx="4706874" cy="4023360"/>
          </a:xfrm>
          <a:prstGeom prst="rect">
            <a:avLst/>
          </a:prstGeom>
          <a:solidFill>
            <a:srgbClr val="0F172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693908" y="16459199"/>
            <a:ext cx="470687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  <a:latin typeface="Malgun Gothic"/>
              </a:rPr>
              <a:t>🗄️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5348" y="17419319"/>
            <a:ext cx="452399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6B6D4"/>
                </a:solidFill>
                <a:latin typeface="Malgun Gothic"/>
              </a:rPr>
              <a:t>RAG 데이터 추출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5348" y="18105119"/>
            <a:ext cx="452399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D1D9"/>
                </a:solidFill>
                <a:latin typeface="Malgun Gothic"/>
              </a:rPr>
              <a:t>Firestore 잔여 예산</a:t>
            </a:r>
          </a:p>
          <a:p>
            <a:pPr algn="ctr"/>
            <a:r>
              <a:rPr sz="1600" b="0" i="0">
                <a:solidFill>
                  <a:srgbClr val="C9D1D9"/>
                </a:solidFill>
                <a:latin typeface="Malgun Gothic"/>
              </a:rPr>
              <a:t>및 지출 패턴 조회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400781" y="18013679"/>
            <a:ext cx="27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B949E"/>
                </a:solidFill>
                <a:latin typeface="Malgun Gothic"/>
              </a:rPr>
              <a:t>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5675102" y="16276319"/>
            <a:ext cx="4706874" cy="4023360"/>
          </a:xfrm>
          <a:prstGeom prst="rect">
            <a:avLst/>
          </a:prstGeom>
          <a:solidFill>
            <a:srgbClr val="0F172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675102" y="16459199"/>
            <a:ext cx="470687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  <a:latin typeface="Malgun Gothic"/>
              </a:rPr>
              <a:t>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766542" y="17419319"/>
            <a:ext cx="452399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10B981"/>
                </a:solidFill>
                <a:latin typeface="Malgun Gothic"/>
              </a:rPr>
              <a:t>AI 알림 전송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766542" y="18105119"/>
            <a:ext cx="452399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9D1D9"/>
                </a:solidFill>
                <a:latin typeface="Malgun Gothic"/>
              </a:rPr>
              <a:t>GPT-4o-mini 성향별</a:t>
            </a:r>
          </a:p>
          <a:p>
            <a:pPr algn="ctr"/>
            <a:r>
              <a:rPr sz="1600" b="0" i="0">
                <a:solidFill>
                  <a:srgbClr val="C9D1D9"/>
                </a:solidFill>
                <a:latin typeface="Malgun Gothic"/>
              </a:rPr>
              <a:t>맞춤 잔소리 생성</a:t>
            </a:r>
          </a:p>
          <a:p>
            <a:pPr algn="ctr"/>
            <a:r>
              <a:rPr sz="1600" b="0" i="0">
                <a:solidFill>
                  <a:srgbClr val="C9D1D9"/>
                </a:solidFill>
                <a:latin typeface="Malgun Gothic"/>
              </a:rPr>
              <a:t>및 푸시 알림 발송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21305519"/>
            <a:ext cx="2834640" cy="530352"/>
          </a:xfrm>
          <a:prstGeom prst="roundRect">
            <a:avLst>
              <a:gd name="adj" fmla="val 4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21305519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웹 / 앱 구현 내용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21991319"/>
            <a:ext cx="10008108" cy="6583680"/>
          </a:xfrm>
          <a:prstGeom prst="rect">
            <a:avLst/>
          </a:prstGeom>
          <a:solidFill>
            <a:srgbClr val="161B2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02920" y="21991319"/>
            <a:ext cx="10008108" cy="16459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22192487"/>
            <a:ext cx="94594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8C42"/>
                </a:solidFill>
                <a:latin typeface="Malgun Gothic"/>
              </a:rPr>
              <a:t>실행 화면 1 · 홈 화면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906774" y="22997160"/>
            <a:ext cx="3200400" cy="4389120"/>
          </a:xfrm>
          <a:prstGeom prst="roundRect">
            <a:avLst>
              <a:gd name="adj" fmla="val 8571"/>
            </a:avLst>
          </a:prstGeom>
          <a:solidFill>
            <a:srgbClr val="1C2333"/>
          </a:solidFill>
          <a:ln w="254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004054" y="23088600"/>
            <a:ext cx="1005840" cy="201168"/>
          </a:xfrm>
          <a:prstGeom prst="roundRect">
            <a:avLst>
              <a:gd name="adj" fmla="val 45454"/>
            </a:avLst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043934" y="23381208"/>
            <a:ext cx="2926080" cy="38587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43934" y="23381208"/>
            <a:ext cx="292608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  <a:latin typeface="Malgun Gothic"/>
              </a:rPr>
              <a:t>[ 앱 화면 캡처 ]</a:t>
            </a:r>
          </a:p>
          <a:p>
            <a:pPr algn="ctr"/>
            <a:r>
              <a:rPr sz="1600" b="0" i="0">
                <a:solidFill>
                  <a:srgbClr val="8B949E"/>
                </a:solidFill>
                <a:latin typeface="Malgun Gothic"/>
              </a:rPr>
              <a:t/>
            </a:r>
          </a:p>
          <a:p>
            <a:pPr algn="ctr"/>
            <a:r>
              <a:rPr sz="1600" b="0" i="0">
                <a:solidFill>
                  <a:srgbClr val="8B949E"/>
                </a:solidFill>
                <a:latin typeface="Malgun Gothic"/>
              </a:rPr>
              <a:t>스크린샷을 여기에</a:t>
            </a:r>
          </a:p>
          <a:p>
            <a:pPr algn="ctr"/>
            <a:r>
              <a:rPr sz="1600" b="0" i="0">
                <a:solidFill>
                  <a:srgbClr val="8B949E"/>
                </a:solidFill>
                <a:latin typeface="Malgun Gothic"/>
              </a:rPr>
              <a:t>삽입해 주세요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77240" y="27523439"/>
            <a:ext cx="9459468" cy="384048"/>
          </a:xfrm>
          <a:prstGeom prst="roundRect">
            <a:avLst>
              <a:gd name="adj" fmla="val 33333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7240" y="27523439"/>
            <a:ext cx="94594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실시간 GPS 방어막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7240" y="27934919"/>
            <a:ext cx="94594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9D1D9"/>
                </a:solidFill>
                <a:latin typeface="Malgun Gothic"/>
              </a:rPr>
              <a:t>위험 지역 진입 감지 및 즉각적 개입</a:t>
            </a:r>
          </a:p>
          <a:p>
            <a:pPr algn="ctr"/>
            <a:r>
              <a:rPr sz="1500" b="0" i="0">
                <a:solidFill>
                  <a:srgbClr val="C9D1D9"/>
                </a:solidFill>
                <a:latin typeface="Malgun Gothic"/>
              </a:rPr>
              <a:t>충동구매 예방 알림 즉시 발송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876788" y="21991319"/>
            <a:ext cx="10008108" cy="6583680"/>
          </a:xfrm>
          <a:prstGeom prst="rect">
            <a:avLst/>
          </a:prstGeom>
          <a:solidFill>
            <a:srgbClr val="161B22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876788" y="21991319"/>
            <a:ext cx="10008108" cy="1645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151108" y="22192487"/>
            <a:ext cx="94594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B6D4"/>
                </a:solidFill>
                <a:latin typeface="Malgun Gothic"/>
              </a:rPr>
              <a:t>실행 화면 2 · AI 채팅 화면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4280642" y="22997160"/>
            <a:ext cx="3200400" cy="4389120"/>
          </a:xfrm>
          <a:prstGeom prst="roundRect">
            <a:avLst>
              <a:gd name="adj" fmla="val 8571"/>
            </a:avLst>
          </a:prstGeom>
          <a:solidFill>
            <a:srgbClr val="1C2333"/>
          </a:solidFill>
          <a:ln w="254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5377922" y="23088600"/>
            <a:ext cx="1005840" cy="201168"/>
          </a:xfrm>
          <a:prstGeom prst="roundRect">
            <a:avLst>
              <a:gd name="adj" fmla="val 45454"/>
            </a:avLst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4417802" y="23381208"/>
            <a:ext cx="2926080" cy="38587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4417802" y="23381208"/>
            <a:ext cx="2926080" cy="3858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  <a:latin typeface="Malgun Gothic"/>
              </a:rPr>
              <a:t>[ 앱 화면 캡처 ]</a:t>
            </a:r>
          </a:p>
          <a:p>
            <a:pPr algn="ctr"/>
            <a:r>
              <a:rPr sz="1600" b="0" i="0">
                <a:solidFill>
                  <a:srgbClr val="8B949E"/>
                </a:solidFill>
                <a:latin typeface="Malgun Gothic"/>
              </a:rPr>
              <a:t/>
            </a:r>
          </a:p>
          <a:p>
            <a:pPr algn="ctr"/>
            <a:r>
              <a:rPr sz="1600" b="0" i="0">
                <a:solidFill>
                  <a:srgbClr val="8B949E"/>
                </a:solidFill>
                <a:latin typeface="Malgun Gothic"/>
              </a:rPr>
              <a:t>스크린샷을 여기에</a:t>
            </a:r>
          </a:p>
          <a:p>
            <a:pPr algn="ctr"/>
            <a:r>
              <a:rPr sz="1600" b="0" i="0">
                <a:solidFill>
                  <a:srgbClr val="8B949E"/>
                </a:solidFill>
                <a:latin typeface="Malgun Gothic"/>
              </a:rPr>
              <a:t>삽입해 주세요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1151108" y="27523439"/>
            <a:ext cx="9459468" cy="384048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151108" y="27523439"/>
            <a:ext cx="94594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AI 맞춤형 채팅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151108" y="27934919"/>
            <a:ext cx="94594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9D1D9"/>
                </a:solidFill>
                <a:latin typeface="Malgun Gothic"/>
              </a:rPr>
              <a:t>소비 성향을 저격하는</a:t>
            </a:r>
          </a:p>
          <a:p>
            <a:pPr algn="ctr"/>
            <a:r>
              <a:rPr sz="1500" b="0" i="0">
                <a:solidFill>
                  <a:srgbClr val="C9D1D9"/>
                </a:solidFill>
                <a:latin typeface="Malgun Gothic"/>
              </a:rPr>
              <a:t>실시간 잔소리 로그 표시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2920" y="2877616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949E"/>
                </a:solidFill>
                <a:latin typeface="Malgun Gothic"/>
              </a:rPr>
              <a:t>기술 스택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2920" y="29233367"/>
            <a:ext cx="4958333" cy="475488"/>
          </a:xfrm>
          <a:prstGeom prst="roundRect">
            <a:avLst>
              <a:gd name="adj" fmla="val 26923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2920" y="29233367"/>
            <a:ext cx="495833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Flutter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644133" y="29233367"/>
            <a:ext cx="4958333" cy="475488"/>
          </a:xfrm>
          <a:prstGeom prst="roundRect">
            <a:avLst>
              <a:gd name="adj" fmla="val 26923"/>
            </a:avLst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44133" y="29233367"/>
            <a:ext cx="495833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Firebase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785348" y="29233367"/>
            <a:ext cx="4958333" cy="475488"/>
          </a:xfrm>
          <a:prstGeom prst="roundRect">
            <a:avLst>
              <a:gd name="adj" fmla="val 26923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785348" y="29233367"/>
            <a:ext cx="495833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FastAPI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5926562" y="29233367"/>
            <a:ext cx="4958333" cy="475488"/>
          </a:xfrm>
          <a:prstGeom prst="roundRect">
            <a:avLst>
              <a:gd name="adj" fmla="val 26923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926562" y="29233367"/>
            <a:ext cx="495833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GPT-4o-mini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02920" y="29964887"/>
            <a:ext cx="2834640" cy="530352"/>
          </a:xfrm>
          <a:prstGeom prst="roundRect">
            <a:avLst>
              <a:gd name="adj" fmla="val 4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29964887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algun Gothic"/>
              </a:rPr>
              <a:t>결론 및 기대 효과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30650687"/>
            <a:ext cx="6672072" cy="3108960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02920" y="30650687"/>
            <a:ext cx="6672072" cy="128016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02920" y="30815279"/>
            <a:ext cx="66720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  <a:latin typeface="Malgun Gothic"/>
              </a:rPr>
              <a:t>🛡️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31729679"/>
            <a:ext cx="6397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42"/>
                </a:solidFill>
                <a:latin typeface="Malgun Gothic"/>
              </a:rPr>
              <a:t>즉각적 개입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0080" y="32388047"/>
            <a:ext cx="63977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9D1D9"/>
                </a:solidFill>
                <a:latin typeface="Malgun Gothic"/>
              </a:rPr>
              <a:t>결제 직전 GPS 감지로</a:t>
            </a:r>
          </a:p>
          <a:p>
            <a:pPr algn="ctr"/>
            <a:r>
              <a:rPr sz="1700" b="0" i="0">
                <a:solidFill>
                  <a:srgbClr val="C9D1D9"/>
                </a:solidFill>
                <a:latin typeface="Malgun Gothic"/>
              </a:rPr>
              <a:t>충동구매 억제 및 방어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57872" y="30650687"/>
            <a:ext cx="6672072" cy="3108960"/>
          </a:xfrm>
          <a:prstGeom prst="rect">
            <a:avLst/>
          </a:prstGeom>
          <a:solidFill>
            <a:srgbClr val="161B22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357872" y="30650687"/>
            <a:ext cx="6672072" cy="128016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357872" y="30815279"/>
            <a:ext cx="66720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  <a:latin typeface="Malgun Gothic"/>
              </a:rPr>
              <a:t>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495032" y="31729679"/>
            <a:ext cx="6397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166"/>
                </a:solidFill>
                <a:latin typeface="Malgun Gothic"/>
              </a:rPr>
              <a:t>소비 습관 교정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95032" y="32388047"/>
            <a:ext cx="63977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9D1D9"/>
                </a:solidFill>
                <a:latin typeface="Malgun Gothic"/>
              </a:rPr>
              <a:t>AI 성향별 맞춤 잔소리로</a:t>
            </a:r>
          </a:p>
          <a:p>
            <a:pPr algn="ctr"/>
            <a:r>
              <a:rPr sz="1700" b="0" i="0">
                <a:solidFill>
                  <a:srgbClr val="C9D1D9"/>
                </a:solidFill>
                <a:latin typeface="Malgun Gothic"/>
              </a:rPr>
              <a:t>올바른 소비 패턴 형성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4212824" y="30650687"/>
            <a:ext cx="6672072" cy="3108960"/>
          </a:xfrm>
          <a:prstGeom prst="rect">
            <a:avLst/>
          </a:prstGeom>
          <a:solidFill>
            <a:srgbClr val="161B2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4212824" y="30650687"/>
            <a:ext cx="6672072" cy="12801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4212824" y="30815279"/>
            <a:ext cx="66720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FFFFFF"/>
                </a:solidFill>
                <a:latin typeface="Malgun Gothic"/>
              </a:rPr>
              <a:t>🤖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4349984" y="31729679"/>
            <a:ext cx="63977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B6D4"/>
                </a:solidFill>
                <a:latin typeface="Malgun Gothic"/>
              </a:rPr>
              <a:t>주머니 속 금융 치료사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4349984" y="32388047"/>
            <a:ext cx="639775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9D1D9"/>
                </a:solidFill>
                <a:latin typeface="Malgun Gothic"/>
              </a:rPr>
              <a:t>언제 어디서나 함께하는</a:t>
            </a:r>
          </a:p>
          <a:p>
            <a:pPr algn="ctr"/>
            <a:r>
              <a:rPr sz="1700" b="0" i="0">
                <a:solidFill>
                  <a:srgbClr val="C9D1D9"/>
                </a:solidFill>
                <a:latin typeface="Malgun Gothic"/>
              </a:rPr>
              <a:t>개인 재무 AI 파트너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34171128"/>
            <a:ext cx="21387816" cy="-3931919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0" y="34171128"/>
            <a:ext cx="21387816" cy="3200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02920" y="3449116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9D1D9"/>
                </a:solidFill>
                <a:latin typeface="Malgun Gothic"/>
              </a:rPr>
              <a:t>KGU  경기대학교 | AI컴퓨터공학부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740896" y="34491168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0" i="0">
                <a:solidFill>
                  <a:srgbClr val="C9D1D9"/>
                </a:solidFill>
                <a:latin typeface="Malgun Gothic"/>
              </a:rPr>
              <a:t>KGU  경기대학교 | 소프트웨어중심대학사업단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